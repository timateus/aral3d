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2004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800" kern="0" dirty="0">
                <a:solidFill>
                  <a:srgbClr val="8A8A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0" y="64008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ARAL3D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64328" y="1143000"/>
            <a:ext cx="1463040" cy="0"/>
          </a:xfrm>
          <a:prstGeom prst="line">
            <a:avLst/>
          </a:prstGeom>
          <a:noFill/>
          <a:ln w="9525">
            <a:solidFill>
              <a:srgbClr val="BFB9AE"/>
            </a:solidFill>
            <a:prstDash val="solid"/>
          </a:ln>
        </p:spPr>
      </p:sp>
      <p:pic>
        <p:nvPicPr>
          <p:cNvPr id="5" name="Image 0" descr="docs/screenshots/01-land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828800"/>
            <a:ext cx="10362895" cy="3840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1828800"/>
            <a:ext cx="12191695" cy="3840480"/>
          </a:xfrm>
          <a:prstGeom prst="rect">
            <a:avLst/>
          </a:prstGeom>
          <a:solidFill>
            <a:srgbClr val="F5F0E8">
              <a:alpha val="45000"/>
            </a:srgbClr>
          </a:solidFill>
          <a:ln w="12700">
            <a:solidFill>
              <a:srgbClr val="F5F0E8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74320" y="2377440"/>
            <a:ext cx="1164305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ctr" indent="0" marL="0">
              <a:buNone/>
            </a:pPr>
            <a:r>
              <a:rPr lang="en-US" sz="88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playable</a:t>
            </a:r>
            <a:pPr algn="ctr" indent="0" marL="0">
              <a:buNone/>
            </a:pPr>
            <a:r>
              <a:rPr lang="en-US" sz="88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aral</a:t>
            </a:r>
            <a:pPr algn="ctr" indent="0" marL="0">
              <a:buNone/>
            </a:pPr>
            <a:r>
              <a:rPr lang="en-US" sz="8800" b="1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sea</a:t>
            </a:r>
            <a:endParaRPr lang="en-US" sz="8800" dirty="0"/>
          </a:p>
        </p:txBody>
      </p:sp>
      <p:sp>
        <p:nvSpPr>
          <p:cNvPr id="8" name="Text 5"/>
          <p:cNvSpPr/>
          <p:nvPr/>
        </p:nvSpPr>
        <p:spPr>
          <a:xfrm>
            <a:off x="548640" y="493776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ctr" indent="0" marL="0">
              <a:buNone/>
            </a:pPr>
            <a:r>
              <a:rPr lang="en-US" sz="2400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public</a:t>
            </a:r>
            <a:pPr algn="ctr" indent="0" marL="0">
              <a:buNone/>
            </a:pPr>
            <a:r>
              <a:rPr lang="en-US" sz="2400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3D</a:t>
            </a:r>
            <a:pPr algn="ctr" indent="0" marL="0">
              <a:buNone/>
            </a:pPr>
            <a:r>
              <a:rPr lang="en-US" sz="2400" i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platform</a:t>
            </a:r>
            <a:pPr algn="ctr" indent="0" marL="0">
              <a:buNone/>
            </a:pPr>
            <a:r>
              <a:rPr lang="en-US" sz="2400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</a:t>
            </a:r>
            <a:pPr algn="ctr" indent="0" marL="0">
              <a:buNone/>
            </a:pPr>
            <a:r>
              <a:rPr lang="en-US" sz="2400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learning,</a:t>
            </a:r>
            <a:pPr algn="ctr" indent="0" marL="0">
              <a:buNone/>
            </a:pPr>
            <a:r>
              <a:rPr lang="en-US" sz="2400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memory,</a:t>
            </a:r>
            <a:pPr algn="ctr" indent="0" marL="0">
              <a:buNone/>
            </a:pPr>
            <a:r>
              <a:rPr lang="en-US" sz="2400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</a:t>
            </a:r>
            <a:pPr algn="ctr" indent="0" marL="0">
              <a:buNone/>
            </a:pPr>
            <a:r>
              <a:rPr lang="en-US" sz="2400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environmental</a:t>
            </a:r>
            <a:pPr algn="ctr" indent="0" marL="0">
              <a:buNone/>
            </a:pPr>
            <a:r>
              <a:rPr lang="en-US" sz="2400" i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imagination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2004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800" kern="0" dirty="0">
                <a:solidFill>
                  <a:srgbClr val="8A8A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CHAPTER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0" y="64008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IT IS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64328" y="1143000"/>
            <a:ext cx="1463040" cy="0"/>
          </a:xfrm>
          <a:prstGeom prst="line">
            <a:avLst/>
          </a:prstGeom>
          <a:noFill/>
          <a:ln w="9525">
            <a:solidFill>
              <a:srgbClr val="BFB9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645920"/>
            <a:ext cx="1164305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</a:t>
            </a:r>
            <a:pPr algn="ctr" indent="0" marL="0">
              <a:buNone/>
            </a:pPr>
            <a:r>
              <a:rPr lang="en-US" sz="70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browser,</a:t>
            </a:r>
            <a:pPr algn="ctr" indent="0" marL="0">
              <a:buNone/>
            </a:pPr>
            <a:r>
              <a:rPr lang="en-US" sz="70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one</a:t>
            </a:r>
            <a:pPr algn="ctr" indent="0" marL="0">
              <a:buNone/>
            </a:pPr>
            <a:r>
              <a:rPr lang="en-US" sz="7000" b="1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basin</a:t>
            </a:r>
            <a:endParaRPr lang="en-US" sz="7000" dirty="0"/>
          </a:p>
        </p:txBody>
      </p:sp>
      <p:sp>
        <p:nvSpPr>
          <p:cNvPr id="6" name="Text 4"/>
          <p:cNvSpPr/>
          <p:nvPr/>
        </p:nvSpPr>
        <p:spPr>
          <a:xfrm>
            <a:off x="1280160" y="3840480"/>
            <a:ext cx="96313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Aral3D is a browser-based 3D platform about the Aral Sea region.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4754880"/>
            <a:ext cx="96313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It combines maps, terrain, stories, environmental data, and interactive scenarios into one public learning tool — for schools, museums, festivals, and cultural institutions.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2004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800" kern="0" dirty="0">
                <a:solidFill>
                  <a:srgbClr val="8A8A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CHAPTER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0" y="64008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WHY THE ARAL SEA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64328" y="1143000"/>
            <a:ext cx="1463040" cy="0"/>
          </a:xfrm>
          <a:prstGeom prst="line">
            <a:avLst/>
          </a:prstGeom>
          <a:noFill/>
          <a:ln w="9525">
            <a:solidFill>
              <a:srgbClr val="BFB9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645920"/>
            <a:ext cx="1164305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more</a:t>
            </a:r>
            <a:pPr algn="ctr" indent="0" marL="0">
              <a:buNone/>
            </a:pPr>
            <a:r>
              <a:rPr lang="en-US" sz="70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than</a:t>
            </a:r>
            <a:pPr algn="ctr" indent="0" marL="0">
              <a:buNone/>
            </a:pPr>
            <a:r>
              <a:rPr lang="en-US" sz="70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</a:t>
            </a:r>
            <a:pPr algn="ctr" indent="0" marL="0">
              <a:buNone/>
            </a:pPr>
            <a:r>
              <a:rPr lang="en-US" sz="7000" b="1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disappearing</a:t>
            </a:r>
            <a:pPr algn="ctr" indent="0" marL="0">
              <a:buNone/>
            </a:pPr>
            <a:r>
              <a:rPr lang="en-US" sz="7000" b="1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sea</a:t>
            </a:r>
            <a:endParaRPr lang="en-US" sz="7000" dirty="0"/>
          </a:p>
        </p:txBody>
      </p:sp>
      <p:sp>
        <p:nvSpPr>
          <p:cNvPr id="6" name="Text 4"/>
          <p:cNvSpPr/>
          <p:nvPr/>
        </p:nvSpPr>
        <p:spPr>
          <a:xfrm>
            <a:off x="1280160" y="3840480"/>
            <a:ext cx="96313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Aral Sea is one of the most important environmental stories of the region.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4754880"/>
            <a:ext cx="96313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But it is not only about a vanishing sea — it is about water, health, infrastructure, agriculture, memory, climate, borders, and future choices. Aral3D helps people see these layers together.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2004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800" kern="0" dirty="0">
                <a:solidFill>
                  <a:srgbClr val="8A8A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CHAPTER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0" y="64008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PROBLEM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64328" y="1143000"/>
            <a:ext cx="1463040" cy="0"/>
          </a:xfrm>
          <a:prstGeom prst="line">
            <a:avLst/>
          </a:prstGeom>
          <a:noFill/>
          <a:ln w="9525">
            <a:solidFill>
              <a:srgbClr val="BFB9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645920"/>
            <a:ext cx="1164305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flat</a:t>
            </a:r>
            <a:pPr algn="ctr" indent="0" marL="0">
              <a:buNone/>
            </a:pPr>
            <a:r>
              <a:rPr lang="en-US" sz="70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maps,</a:t>
            </a:r>
            <a:pPr algn="ctr" indent="0" marL="0">
              <a:buNone/>
            </a:pPr>
            <a:r>
              <a:rPr lang="en-US" sz="70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distant</a:t>
            </a:r>
            <a:pPr algn="ctr" indent="0" marL="0">
              <a:buNone/>
            </a:pPr>
            <a:r>
              <a:rPr lang="en-US" sz="7000" b="1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stories</a:t>
            </a:r>
            <a:endParaRPr lang="en-US" sz="7000" dirty="0"/>
          </a:p>
        </p:txBody>
      </p:sp>
      <p:sp>
        <p:nvSpPr>
          <p:cNvPr id="6" name="Text 4"/>
          <p:cNvSpPr/>
          <p:nvPr/>
        </p:nvSpPr>
        <p:spPr>
          <a:xfrm>
            <a:off x="1280160" y="3840480"/>
            <a:ext cx="96313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Most people meet the Aral Sea through flat maps, old photographs, statistics, or disaster narratives — important, but distant.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4754880"/>
            <a:ext cx="96313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Aral3D makes the region spatial, interactive, and easier to understand. Instead of only reading about change, users can move through it, test scenarios, and ask questions.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2004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800" kern="0" dirty="0">
                <a:solidFill>
                  <a:srgbClr val="8A8A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CHAPTER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0" y="64008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CORE PHILOSOPHY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64328" y="1143000"/>
            <a:ext cx="1463040" cy="0"/>
          </a:xfrm>
          <a:prstGeom prst="line">
            <a:avLst/>
          </a:prstGeom>
          <a:noFill/>
          <a:ln w="9525">
            <a:solidFill>
              <a:srgbClr val="BFB9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645920"/>
            <a:ext cx="1164305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maps</a:t>
            </a:r>
            <a:pPr algn="ctr" indent="0" marL="0">
              <a:buNone/>
            </a:pPr>
            <a:r>
              <a:rPr lang="en-US" sz="88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are</a:t>
            </a:r>
            <a:pPr algn="ctr" indent="0" marL="0">
              <a:buNone/>
            </a:pPr>
            <a:r>
              <a:rPr lang="en-US" sz="88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not</a:t>
            </a:r>
            <a:pPr algn="ctr" indent="0" marL="0">
              <a:buNone/>
            </a:pPr>
            <a:r>
              <a:rPr lang="en-US" sz="8800" b="1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neutral</a:t>
            </a:r>
            <a:endParaRPr lang="en-US" sz="8800" dirty="0"/>
          </a:p>
        </p:txBody>
      </p:sp>
      <p:sp>
        <p:nvSpPr>
          <p:cNvPr id="6" name="Text 4"/>
          <p:cNvSpPr/>
          <p:nvPr/>
        </p:nvSpPr>
        <p:spPr>
          <a:xfrm>
            <a:off x="1280160" y="3840480"/>
            <a:ext cx="96313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way we imagine water affects the way we treat it.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4754880"/>
            <a:ext cx="96313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Water can appear as a resource, a border, a memory, a health issue, an infrastructure system, a political question, or a shared future. Aral3D turns the map into a space for learning, questioning, and imagination.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2004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800" kern="0" dirty="0">
                <a:solidFill>
                  <a:srgbClr val="8A8A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CHAPTER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0" y="64008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 IT DOES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64328" y="1143000"/>
            <a:ext cx="1463040" cy="0"/>
          </a:xfrm>
          <a:prstGeom prst="line">
            <a:avLst/>
          </a:prstGeom>
          <a:noFill/>
          <a:ln w="9525">
            <a:solidFill>
              <a:srgbClr val="BFB9AE"/>
            </a:solidFill>
            <a:prstDash val="solid"/>
          </a:ln>
        </p:spPr>
      </p:sp>
      <p:pic>
        <p:nvPicPr>
          <p:cNvPr id="5" name="Image 0" descr="docs/screenshots/02-explore-m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828800"/>
            <a:ext cx="10362895" cy="3840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1828800"/>
            <a:ext cx="12191695" cy="3840480"/>
          </a:xfrm>
          <a:prstGeom prst="rect">
            <a:avLst/>
          </a:prstGeom>
          <a:solidFill>
            <a:srgbClr val="F5F0E8">
              <a:alpha val="45000"/>
            </a:srgbClr>
          </a:solidFill>
          <a:ln w="12700">
            <a:solidFill>
              <a:srgbClr val="F5F0E8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74320" y="2377440"/>
            <a:ext cx="1164305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explore</a:t>
            </a:r>
            <a:pPr algn="ctr" indent="0" marL="0">
              <a:buNone/>
            </a:pPr>
            <a:r>
              <a:rPr lang="en-US" sz="70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</a:t>
            </a:r>
            <a:pPr algn="ctr" indent="0" marL="0">
              <a:buNone/>
            </a:pPr>
            <a:r>
              <a:rPr lang="en-US" sz="70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basin</a:t>
            </a:r>
            <a:pPr algn="ctr" indent="0" marL="0">
              <a:buNone/>
            </a:pPr>
            <a:r>
              <a:rPr lang="en-US" sz="7000" b="1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</a:t>
            </a:r>
            <a:pPr algn="ctr" indent="0" marL="0">
              <a:buNone/>
            </a:pPr>
            <a:r>
              <a:rPr lang="en-US" sz="7000" b="1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3D</a:t>
            </a:r>
            <a:endParaRPr lang="en-US" sz="7000" dirty="0"/>
          </a:p>
        </p:txBody>
      </p:sp>
      <p:sp>
        <p:nvSpPr>
          <p:cNvPr id="8" name="Text 5"/>
          <p:cNvSpPr/>
          <p:nvPr/>
        </p:nvSpPr>
        <p:spPr>
          <a:xfrm>
            <a:off x="548640" y="493776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terrain,</a:t>
            </a:r>
            <a:pPr algn="ctr" indent="0" marL="0">
              <a:buNone/>
            </a:pPr>
            <a:r>
              <a:rPr lang="en-US" sz="2400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water,</a:t>
            </a:r>
            <a:pPr algn="ctr" indent="0" marL="0">
              <a:buNone/>
            </a:pPr>
            <a:r>
              <a:rPr lang="en-US" sz="2400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settlements,</a:t>
            </a:r>
            <a:pPr algn="ctr" indent="0" marL="0">
              <a:buNone/>
            </a:pPr>
            <a:r>
              <a:rPr lang="en-US" sz="2400" i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canals,</a:t>
            </a:r>
            <a:pPr algn="ctr" indent="0" marL="0">
              <a:buNone/>
            </a:pPr>
            <a:r>
              <a:rPr lang="en-US" sz="2400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dams,</a:t>
            </a:r>
            <a:pPr algn="ctr" indent="0" marL="0">
              <a:buNone/>
            </a:pPr>
            <a:r>
              <a:rPr lang="en-US" sz="2400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ecology,</a:t>
            </a:r>
            <a:pPr algn="ctr" indent="0" marL="0">
              <a:buNone/>
            </a:pPr>
            <a:r>
              <a:rPr lang="en-US" sz="2400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</a:t>
            </a:r>
            <a:pPr algn="ctr" indent="0" marL="0">
              <a:buNone/>
            </a:pPr>
            <a:r>
              <a:rPr lang="en-US" sz="2400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future</a:t>
            </a:r>
            <a:pPr algn="ctr" indent="0" marL="0">
              <a:buNone/>
            </a:pPr>
            <a:r>
              <a:rPr lang="en-US" sz="2400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scenarios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2004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800" kern="0" dirty="0">
                <a:solidFill>
                  <a:srgbClr val="8A8A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CHAPTER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0" y="64008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CURRENT STATUS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64328" y="1143000"/>
            <a:ext cx="1463040" cy="0"/>
          </a:xfrm>
          <a:prstGeom prst="line">
            <a:avLst/>
          </a:prstGeom>
          <a:noFill/>
          <a:ln w="9525">
            <a:solidFill>
              <a:srgbClr val="BFB9AE"/>
            </a:solidFill>
            <a:prstDash val="solid"/>
          </a:ln>
        </p:spPr>
      </p:sp>
      <p:pic>
        <p:nvPicPr>
          <p:cNvPr id="5" name="Image 0" descr="docs/screenshots/04-game-mission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828800"/>
            <a:ext cx="10362895" cy="3840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1828800"/>
            <a:ext cx="12191695" cy="3840480"/>
          </a:xfrm>
          <a:prstGeom prst="rect">
            <a:avLst/>
          </a:prstGeom>
          <a:solidFill>
            <a:srgbClr val="F5F0E8">
              <a:alpha val="45000"/>
            </a:srgbClr>
          </a:solidFill>
          <a:ln w="12700">
            <a:solidFill>
              <a:srgbClr val="F5F0E8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74320" y="2377440"/>
            <a:ext cx="1164305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</a:t>
            </a:r>
            <a:pPr algn="ctr" indent="0" marL="0">
              <a:buNone/>
            </a:pPr>
            <a:r>
              <a:rPr lang="en-US" sz="88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prototype</a:t>
            </a:r>
            <a:pPr algn="ctr" indent="0" marL="0">
              <a:buNone/>
            </a:pPr>
            <a:r>
              <a:rPr lang="en-US" sz="88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works</a:t>
            </a:r>
            <a:endParaRPr lang="en-US" sz="8800" dirty="0"/>
          </a:p>
        </p:txBody>
      </p:sp>
      <p:sp>
        <p:nvSpPr>
          <p:cNvPr id="8" name="Text 5"/>
          <p:cNvSpPr/>
          <p:nvPr/>
        </p:nvSpPr>
        <p:spPr>
          <a:xfrm>
            <a:off x="548640" y="493776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3D</a:t>
            </a:r>
            <a:pPr algn="ctr" indent="0" marL="0">
              <a:buNone/>
            </a:pPr>
            <a:r>
              <a:rPr lang="en-US" sz="2400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terrain,</a:t>
            </a:r>
            <a:pPr algn="ctr" indent="0" marL="0">
              <a:buNone/>
            </a:pPr>
            <a:r>
              <a:rPr lang="en-US" sz="2400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map</a:t>
            </a:r>
            <a:pPr algn="ctr" indent="0" marL="0">
              <a:buNone/>
            </a:pPr>
            <a:r>
              <a:rPr lang="en-US" sz="2400" i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layers,</a:t>
            </a:r>
            <a:pPr algn="ctr" indent="0" marL="0">
              <a:buNone/>
            </a:pPr>
            <a:r>
              <a:rPr lang="en-US" sz="2400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water</a:t>
            </a:r>
            <a:pPr algn="ctr" indent="0" marL="0">
              <a:buNone/>
            </a:pPr>
            <a:r>
              <a:rPr lang="en-US" sz="2400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scenarios,</a:t>
            </a:r>
            <a:pPr algn="ctr" indent="0" marL="0">
              <a:buNone/>
            </a:pPr>
            <a:r>
              <a:rPr lang="en-US" sz="2400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</a:t>
            </a:r>
            <a:pPr algn="ctr" indent="0" marL="0">
              <a:buNone/>
            </a:pPr>
            <a:r>
              <a:rPr lang="en-US" sz="2400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interactive</a:t>
            </a:r>
            <a:pPr algn="ctr" indent="0" marL="0">
              <a:buNone/>
            </a:pPr>
            <a:r>
              <a:rPr lang="en-US" sz="2400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exploration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2004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800" kern="0" dirty="0">
                <a:solidFill>
                  <a:srgbClr val="8A8A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CHAPTER 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0" y="64008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FIRST PUBLIC USES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64328" y="1143000"/>
            <a:ext cx="1463040" cy="0"/>
          </a:xfrm>
          <a:prstGeom prst="line">
            <a:avLst/>
          </a:prstGeom>
          <a:noFill/>
          <a:ln w="9525">
            <a:solidFill>
              <a:srgbClr val="BFB9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645920"/>
            <a:ext cx="1164305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</a:t>
            </a:r>
            <a:pPr algn="ctr" indent="0" marL="0">
              <a:buNone/>
            </a:pPr>
            <a:r>
              <a:rPr lang="en-US" sz="72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it</a:t>
            </a:r>
            <a:pPr algn="ctr" indent="0" marL="0">
              <a:buNone/>
            </a:pPr>
            <a:r>
              <a:rPr lang="en-US" sz="72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lands</a:t>
            </a:r>
            <a:pPr algn="ctr" indent="0" marL="0">
              <a:buNone/>
            </a:pPr>
            <a:r>
              <a:rPr lang="en-US" sz="7200" b="1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first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80160" y="338328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920240" y="3410712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Aral Culture Summit 2026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80160" y="384048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920240" y="3867912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Savitsky Museum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80160" y="429768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920240" y="4325112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History and Aral Sea Museum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80160" y="475488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920240" y="4782312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Center for Contemporary Art, Tashkent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80160" y="521208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920240" y="5239512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Schools and educational programs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80160" y="566928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920240" y="5696712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Public workshops and festivals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2004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800" kern="0" dirty="0">
                <a:solidFill>
                  <a:srgbClr val="8A8A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CHAPTER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0" y="64008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EDUCATION POTENTIAL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64328" y="1143000"/>
            <a:ext cx="1463040" cy="0"/>
          </a:xfrm>
          <a:prstGeom prst="line">
            <a:avLst/>
          </a:prstGeom>
          <a:noFill/>
          <a:ln w="9525">
            <a:solidFill>
              <a:srgbClr val="BFB9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645920"/>
            <a:ext cx="1164305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ctr" indent="0" marL="0">
              <a:buNone/>
            </a:pPr>
            <a:r>
              <a:rPr lang="en-US" sz="72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tool</a:t>
            </a:r>
            <a:pPr algn="ctr" indent="0" marL="0">
              <a:buNone/>
            </a:pPr>
            <a:r>
              <a:rPr lang="en-US" sz="72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</a:t>
            </a:r>
            <a:pPr algn="ctr" indent="0" marL="0">
              <a:buNone/>
            </a:pPr>
            <a:r>
              <a:rPr lang="en-US" sz="7200" b="1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classrooms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80160" y="347472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Geography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206240" y="3511296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How water systems work and how landscapes change.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80160" y="402336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Ecology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06240" y="4059936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How human decisions shape fragile ecosystems.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80160" y="45720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History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206240" y="4608576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Memory of a region told through its terrain.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80160" y="512064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206240" y="5157216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Visual literacy for maps, data, and storytelling.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80160" y="566928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Civics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206240" y="5705856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Shared decisions about water, land, and future.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2004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800" kern="0" dirty="0">
                <a:solidFill>
                  <a:srgbClr val="8A8A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CHAPTER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0" y="64008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CULTURAL &amp; DESIGN POTENTIAL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64328" y="1143000"/>
            <a:ext cx="1463040" cy="0"/>
          </a:xfrm>
          <a:prstGeom prst="line">
            <a:avLst/>
          </a:prstGeom>
          <a:noFill/>
          <a:ln w="9525">
            <a:solidFill>
              <a:srgbClr val="BFB9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645920"/>
            <a:ext cx="1164305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installation,</a:t>
            </a:r>
            <a:pPr algn="ctr" indent="0" marL="0">
              <a:buNone/>
            </a:pPr>
            <a:r>
              <a:rPr lang="en-US" sz="64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archive,</a:t>
            </a:r>
            <a:pPr algn="ctr" indent="0" marL="0">
              <a:buNone/>
            </a:pPr>
            <a:r>
              <a:rPr lang="en-US" sz="64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speculation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1280160" y="384048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920240" y="3867912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Tashkent Design Week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80160" y="438912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920240" y="4416552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Milan Design Week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80160" y="493776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920240" y="4965192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Venice Architecture Biennale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80160" y="548640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920240" y="5513832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Venice Art Biennale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2004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800" kern="0" dirty="0">
                <a:solidFill>
                  <a:srgbClr val="8A8A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CHAPTER 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0" y="64008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INSTITUTIONAL MODEL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64328" y="1143000"/>
            <a:ext cx="1463040" cy="0"/>
          </a:xfrm>
          <a:prstGeom prst="line">
            <a:avLst/>
          </a:prstGeom>
          <a:noFill/>
          <a:ln w="9525">
            <a:solidFill>
              <a:srgbClr val="BFB9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645920"/>
            <a:ext cx="1164305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free,</a:t>
            </a:r>
            <a:pPr algn="ctr" indent="0" marL="0">
              <a:buNone/>
            </a:pPr>
            <a:r>
              <a:rPr lang="en-US" sz="92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by</a:t>
            </a:r>
            <a:pPr algn="ctr" indent="0" marL="0">
              <a:buNone/>
            </a:pPr>
            <a:r>
              <a:rPr lang="en-US" sz="92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default</a:t>
            </a:r>
            <a:endParaRPr lang="en-US" sz="92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</a:t>
            </a:r>
            <a:pPr algn="ctr" indent="0" marL="0">
              <a:buNone/>
            </a:pPr>
            <a:r>
              <a:rPr lang="en-US" sz="2200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schools,</a:t>
            </a:r>
            <a:pPr algn="ctr" indent="0" marL="0">
              <a:buNone/>
            </a:pPr>
            <a:r>
              <a:rPr lang="en-US" sz="2200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museums,</a:t>
            </a:r>
            <a:pPr algn="ctr" indent="0" marL="0">
              <a:buNone/>
            </a:pPr>
            <a:r>
              <a:rPr lang="en-US" sz="2200" i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researchers,</a:t>
            </a:r>
            <a:pPr algn="ctr" indent="0" marL="0">
              <a:buNone/>
            </a:pPr>
            <a:r>
              <a:rPr lang="en-US" sz="2200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</a:t>
            </a:r>
            <a:pPr algn="ctr" indent="0" marL="0">
              <a:buNone/>
            </a:pPr>
            <a:r>
              <a:rPr lang="en-US" sz="2200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</a:t>
            </a:r>
            <a:pPr algn="ctr" indent="0" marL="0">
              <a:buNone/>
            </a:pPr>
            <a:r>
              <a:rPr lang="en-US" sz="2200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public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43891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800" kern="0" dirty="0">
                <a:solidFill>
                  <a:srgbClr val="8A8A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CORE SUPPORT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4754880"/>
            <a:ext cx="5029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Ministries, museums, schools, cultural foundations, environmental organisations, and international institutions.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0" y="43891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800" kern="0" dirty="0">
                <a:solidFill>
                  <a:srgbClr val="8A8A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OPTIONAL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0" y="4754880"/>
            <a:ext cx="5029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Paid adaptations for private museums, festivals, educational centres, and commissioned exhibitions.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2004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800" kern="0" dirty="0">
                <a:solidFill>
                  <a:srgbClr val="8A8A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CHAPTER 11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0" y="64008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IMPLEMENTATION SUPPORT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64328" y="1143000"/>
            <a:ext cx="1463040" cy="0"/>
          </a:xfrm>
          <a:prstGeom prst="line">
            <a:avLst/>
          </a:prstGeom>
          <a:noFill/>
          <a:ln w="9525">
            <a:solidFill>
              <a:srgbClr val="BFB9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645920"/>
            <a:ext cx="1164305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</a:t>
            </a:r>
            <a:pPr algn="ctr" indent="0" marL="0">
              <a:buNone/>
            </a:pPr>
            <a:r>
              <a:rPr lang="en-US" sz="70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prototype</a:t>
            </a:r>
            <a:pPr algn="ctr" indent="0" marL="0">
              <a:buNone/>
            </a:pPr>
            <a:r>
              <a:rPr lang="en-US" sz="70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</a:t>
            </a:r>
            <a:pPr algn="ctr" indent="0" marL="0">
              <a:buNone/>
            </a:pPr>
            <a:r>
              <a:rPr lang="en-US" sz="7000" b="1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platform</a:t>
            </a:r>
            <a:endParaRPr lang="en-US" sz="7000" dirty="0"/>
          </a:p>
        </p:txBody>
      </p:sp>
      <p:sp>
        <p:nvSpPr>
          <p:cNvPr id="6" name="Text 4"/>
          <p:cNvSpPr/>
          <p:nvPr/>
        </p:nvSpPr>
        <p:spPr>
          <a:xfrm>
            <a:off x="548640" y="3291840"/>
            <a:ext cx="5486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$30,000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548640" y="44805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8A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 the first 6 months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4937760"/>
            <a:ext cx="5486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polish, learning materials, audience testing, museum &amp; festival formats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126480" y="3291840"/>
            <a:ext cx="5486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$50,000</a:t>
            </a:r>
            <a:endParaRPr lang="en-US" sz="8000" dirty="0"/>
          </a:p>
        </p:txBody>
      </p:sp>
      <p:sp>
        <p:nvSpPr>
          <p:cNvPr id="10" name="Text 8"/>
          <p:cNvSpPr/>
          <p:nvPr/>
        </p:nvSpPr>
        <p:spPr>
          <a:xfrm>
            <a:off x="6126480" y="44805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8A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per year, 3-year phase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126480" y="4937760"/>
            <a:ext cx="5486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maintain the platform, expand content, support workshops, keep it free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2004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800" kern="0" dirty="0">
                <a:solidFill>
                  <a:srgbClr val="8A8A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CHAPTER 12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0" y="64008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FIRST 6 MONTHS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64328" y="1143000"/>
            <a:ext cx="1463040" cy="0"/>
          </a:xfrm>
          <a:prstGeom prst="line">
            <a:avLst/>
          </a:prstGeom>
          <a:noFill/>
          <a:ln w="9525">
            <a:solidFill>
              <a:srgbClr val="BFB9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645920"/>
            <a:ext cx="1164305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2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</a:t>
            </a:r>
            <a:pPr algn="ctr" indent="0" marL="0">
              <a:buNone/>
            </a:pPr>
            <a:r>
              <a:rPr lang="en-US" sz="62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months,</a:t>
            </a:r>
            <a:pPr algn="ctr" indent="0" marL="0">
              <a:buNone/>
            </a:pPr>
            <a:r>
              <a:rPr lang="en-US" sz="62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one</a:t>
            </a:r>
            <a:pPr algn="ctr" indent="0" marL="0">
              <a:buNone/>
            </a:pPr>
            <a:r>
              <a:rPr lang="en-US" sz="6200" b="1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public</a:t>
            </a:r>
            <a:pPr algn="ctr" indent="0" marL="0">
              <a:buNone/>
            </a:pPr>
            <a:r>
              <a:rPr lang="en-US" sz="6200" b="1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version</a:t>
            </a:r>
            <a:endParaRPr lang="en-US" sz="6200" dirty="0"/>
          </a:p>
        </p:txBody>
      </p:sp>
      <p:sp>
        <p:nvSpPr>
          <p:cNvPr id="6" name="Text 4"/>
          <p:cNvSpPr/>
          <p:nvPr/>
        </p:nvSpPr>
        <p:spPr>
          <a:xfrm>
            <a:off x="1280160" y="329184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Polish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206240" y="3328416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Product and user experience.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80160" y="374904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06240" y="3785616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presentable public version.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80160" y="420624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206240" y="4242816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Educational content for classrooms.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80160" y="466344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Testing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206240" y="4700016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With students, teachers, museum audiences.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80160" y="512064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206240" y="5157216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Festival and exhibition adaptations.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80160" y="557784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Partners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206240" y="5614416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Institutional partnerships and documentation.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2004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800" kern="0" dirty="0">
                <a:solidFill>
                  <a:srgbClr val="8A8A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CHAPTER 13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0" y="64008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THREE-YEAR VISION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64328" y="1143000"/>
            <a:ext cx="1463040" cy="0"/>
          </a:xfrm>
          <a:prstGeom prst="line">
            <a:avLst/>
          </a:prstGeom>
          <a:noFill/>
          <a:ln w="9525">
            <a:solidFill>
              <a:srgbClr val="BFB9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645920"/>
            <a:ext cx="1164305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ctr" indent="0" marL="0">
              <a:buNone/>
            </a:pPr>
            <a:r>
              <a:rPr lang="en-US" sz="70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living</a:t>
            </a:r>
            <a:pPr algn="ctr" indent="0" marL="0">
              <a:buNone/>
            </a:pPr>
            <a:r>
              <a:rPr lang="en-US" sz="70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public</a:t>
            </a:r>
            <a:pPr algn="ctr" indent="0" marL="0">
              <a:buNone/>
            </a:pPr>
            <a:r>
              <a:rPr lang="en-US" sz="7000" b="1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platform</a:t>
            </a:r>
            <a:endParaRPr lang="en-US" sz="7000" dirty="0"/>
          </a:p>
        </p:txBody>
      </p:sp>
      <p:sp>
        <p:nvSpPr>
          <p:cNvPr id="6" name="Text 4"/>
          <p:cNvSpPr/>
          <p:nvPr/>
        </p:nvSpPr>
        <p:spPr>
          <a:xfrm>
            <a:off x="1280160" y="3840480"/>
            <a:ext cx="96313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Over three years Aral3D can grow into a long-term public platform for the Aral Sea region.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4754880"/>
            <a:ext cx="96313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New layers, new stories, new educational modules and installations — a learning tool and a cultural archive that stays alive, updates over time, and remains accessible.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2004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800" kern="0" dirty="0">
                <a:solidFill>
                  <a:srgbClr val="8A8A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CHAPTER 14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0" y="64008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EXPANSION POTENTIAL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64328" y="1143000"/>
            <a:ext cx="1463040" cy="0"/>
          </a:xfrm>
          <a:prstGeom prst="line">
            <a:avLst/>
          </a:prstGeom>
          <a:noFill/>
          <a:ln w="9525">
            <a:solidFill>
              <a:srgbClr val="BFB9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645920"/>
            <a:ext cx="1164305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aral</a:t>
            </a:r>
            <a:pPr algn="ctr" indent="0" marL="0">
              <a:buNone/>
            </a:pPr>
            <a:r>
              <a:rPr lang="en-US" sz="70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</a:t>
            </a:r>
            <a:pPr algn="ctr" indent="0" marL="0">
              <a:buNone/>
            </a:pPr>
            <a:r>
              <a:rPr lang="en-US" sz="70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</a:t>
            </a:r>
            <a:pPr algn="ctr" indent="0" marL="0">
              <a:buNone/>
            </a:pPr>
            <a:r>
              <a:rPr lang="en-US" sz="7000" b="1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first</a:t>
            </a:r>
            <a:pPr algn="ctr" indent="0" marL="0">
              <a:buNone/>
            </a:pPr>
            <a:r>
              <a:rPr lang="en-US" sz="7000" b="1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case</a:t>
            </a:r>
            <a:endParaRPr lang="en-US" sz="7000" dirty="0"/>
          </a:p>
        </p:txBody>
      </p:sp>
      <p:sp>
        <p:nvSpPr>
          <p:cNvPr id="6" name="Text 4"/>
          <p:cNvSpPr/>
          <p:nvPr/>
        </p:nvSpPr>
        <p:spPr>
          <a:xfrm>
            <a:off x="1280160" y="338328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920240" y="3410712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Caspian Sea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80160" y="384048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920240" y="3867912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Venice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80160" y="429768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920240" y="4325112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River deltas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80160" y="475488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920240" y="4782312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Drylands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80160" y="521208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920240" y="5239512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Irrigation landscapes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280160" y="5669280"/>
            <a:ext cx="548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920240" y="5696712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Other climate-affected regions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2004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800" kern="0" dirty="0">
                <a:solidFill>
                  <a:srgbClr val="8A8A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CHAPTER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0" y="64008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WHY NOW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64328" y="1143000"/>
            <a:ext cx="1463040" cy="0"/>
          </a:xfrm>
          <a:prstGeom prst="line">
            <a:avLst/>
          </a:prstGeom>
          <a:noFill/>
          <a:ln w="9525">
            <a:solidFill>
              <a:srgbClr val="BFB9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645920"/>
            <a:ext cx="1164305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</a:t>
            </a:r>
            <a:pPr algn="ctr" indent="0" marL="0">
              <a:buNone/>
            </a:pPr>
            <a:r>
              <a:rPr lang="en-US" sz="70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prototype</a:t>
            </a:r>
            <a:pPr algn="ctr" indent="0" marL="0">
              <a:buNone/>
            </a:pPr>
            <a:r>
              <a:rPr lang="en-US" sz="70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</a:t>
            </a:r>
            <a:pPr algn="ctr" indent="0" marL="0">
              <a:buNone/>
            </a:pPr>
            <a:r>
              <a:rPr lang="en-US" sz="7000" b="1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already</a:t>
            </a:r>
            <a:pPr algn="ctr" indent="0" marL="0">
              <a:buNone/>
            </a:pPr>
            <a:r>
              <a:rPr lang="en-US" sz="7000" b="1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alive</a:t>
            </a:r>
            <a:endParaRPr lang="en-US" sz="7000" dirty="0"/>
          </a:p>
        </p:txBody>
      </p:sp>
      <p:sp>
        <p:nvSpPr>
          <p:cNvPr id="6" name="Text 4"/>
          <p:cNvSpPr/>
          <p:nvPr/>
        </p:nvSpPr>
        <p:spPr>
          <a:xfrm>
            <a:off x="1280160" y="3840480"/>
            <a:ext cx="96313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Environmental education needs better tools. Museums and schools need formats that are visual, interactive, and accessible.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4754880"/>
            <a:ext cx="96313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The Aral Sea story needs to be told not only as a past disaster, but as a living question about the future. With support, Aral3D moves from prototype to public platform.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2004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800" kern="0" dirty="0">
                <a:solidFill>
                  <a:srgbClr val="8A8A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CHAPTER 16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0" y="64008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800" kern="0" dirty="0">
                <a:solidFill>
                  <a:srgbClr val="2B2B2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TEAM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64328" y="1143000"/>
            <a:ext cx="1463040" cy="0"/>
          </a:xfrm>
          <a:prstGeom prst="line">
            <a:avLst/>
          </a:prstGeom>
          <a:noFill/>
          <a:ln w="9525">
            <a:solidFill>
              <a:srgbClr val="BFB9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2194560"/>
            <a:ext cx="1164305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i="1" dirty="0">
                <a:solidFill>
                  <a:srgbClr val="E84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timofey</a:t>
            </a:r>
            <a:pPr algn="ctr" indent="0" marL="0">
              <a:buNone/>
            </a:pPr>
            <a:r>
              <a:rPr lang="en-US" sz="9600" b="1" i="1" dirty="0">
                <a:solidFill>
                  <a:srgbClr val="1FAE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and</a:t>
            </a:r>
            <a:pPr algn="ctr" indent="0" marL="0">
              <a:buNone/>
            </a:pPr>
            <a:r>
              <a:rPr lang="en-US" sz="9600" b="1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robert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548640" y="402336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</a:t>
            </a:r>
            <a:pPr algn="ctr" indent="0" marL="0">
              <a:buNone/>
            </a:pPr>
            <a:r>
              <a:rPr lang="en-US" sz="2600" i="1" dirty="0">
                <a:solidFill>
                  <a:srgbClr val="EC48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people</a:t>
            </a:r>
            <a:pPr algn="ctr" indent="0" marL="0">
              <a:buNone/>
            </a:pPr>
            <a:r>
              <a:rPr lang="en-US" sz="2600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behind</a:t>
            </a:r>
            <a:pPr algn="ctr" indent="0" marL="0">
              <a:buNone/>
            </a:pPr>
            <a:r>
              <a:rPr lang="en-US" sz="2600" i="1" dirty="0">
                <a:solidFill>
                  <a:srgbClr val="22D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aral3d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0" y="512064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800" kern="0" dirty="0">
                <a:solidFill>
                  <a:srgbClr val="8A8A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CONTACT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0" y="544068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1A1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timnosov@gmail.com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Aral3D</dc:title>
  <dc:subject>PptxGenJS Presentation</dc:subject>
  <dc:creator>PptxGenJS</dc:creator>
  <cp:lastModifiedBy>PptxGenJS</cp:lastModifiedBy>
  <cp:revision>1</cp:revision>
  <dcterms:created xsi:type="dcterms:W3CDTF">2026-06-18T08:50:25Z</dcterms:created>
  <dcterms:modified xsi:type="dcterms:W3CDTF">2026-06-18T08:50:25Z</dcterms:modified>
</cp:coreProperties>
</file>